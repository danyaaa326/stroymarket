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2"/>
  </p:notesMasterIdLst>
  <p:sldIdLst>
    <p:sldId id="262" r:id="rId2"/>
    <p:sldId id="256" r:id="rId3"/>
    <p:sldId id="258" r:id="rId4"/>
    <p:sldId id="264" r:id="rId5"/>
    <p:sldId id="257" r:id="rId6"/>
    <p:sldId id="265" r:id="rId7"/>
    <p:sldId id="259" r:id="rId8"/>
    <p:sldId id="260" r:id="rId9"/>
    <p:sldId id="266" r:id="rId10"/>
    <p:sldId id="273" r:id="rId11"/>
    <p:sldId id="267" r:id="rId12"/>
    <p:sldId id="272" r:id="rId13"/>
    <p:sldId id="269" r:id="rId14"/>
    <p:sldId id="270" r:id="rId15"/>
    <p:sldId id="268" r:id="rId16"/>
    <p:sldId id="274" r:id="rId17"/>
    <p:sldId id="271" r:id="rId18"/>
    <p:sldId id="276" r:id="rId19"/>
    <p:sldId id="275" r:id="rId20"/>
    <p:sldId id="26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5007-5E8B-44D5-8556-657BBCBB377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A870F-BAB4-4616-9FE6-6345C79FF5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13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A870F-BAB4-4616-9FE6-6345C79FF50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32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A870F-BAB4-4616-9FE6-6345C79FF5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98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1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1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6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3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7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4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1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4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4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5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" TargetMode="External"/><Relationship Id="rId2" Type="http://schemas.openxmlformats.org/officeDocument/2006/relationships/hyperlink" Target="https://www.cleverence.r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75000"/>
              </a:schemeClr>
            </a:gs>
            <a:gs pos="0">
              <a:schemeClr val="tx2">
                <a:lumMod val="8000"/>
              </a:schemeClr>
            </a:gs>
          </a:gsLst>
          <a:lin ang="6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465" y="1262077"/>
            <a:ext cx="8486161" cy="2584210"/>
          </a:xfr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lin ang="9000000" scaled="0"/>
          </a:gradFill>
          <a:ln>
            <a:noFill/>
          </a:ln>
          <a:effectLst>
            <a:glow>
              <a:schemeClr val="accent1"/>
            </a:glow>
            <a:outerShdw blurRad="1270000" dist="50800" dir="5400000" sx="97000" sy="97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r>
              <a:rPr lang="ru-RU" sz="4800" dirty="0">
                <a:latin typeface="+mn-lt"/>
              </a:rPr>
              <a:t>Создание интернет-магазина строительных материалов с системой подбора аналогов.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-31254"/>
            <a:ext cx="12304059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accent1">
                    <a:lumMod val="40000"/>
                    <a:lumOff val="60000"/>
                  </a:schemeClr>
                </a:solidFill>
                <a:ea typeface="Public Sans"/>
                <a:cs typeface="Public Sans"/>
                <a:sym typeface="Public Sans"/>
              </a:rPr>
              <a:t>Краевое государственное автономное профессиональное образовательное учреждение "Красноярский колледж отраслевых технологий и предпринимательства"</a:t>
            </a:r>
          </a:p>
        </p:txBody>
      </p:sp>
      <p:sp>
        <p:nvSpPr>
          <p:cNvPr id="5" name="Google Shape;86;p13">
            <a:extLst>
              <a:ext uri="{FF2B5EF4-FFF2-40B4-BE49-F238E27FC236}">
                <a16:creationId xmlns:a16="http://schemas.microsoft.com/office/drawing/2014/main" id="{8F3B35B5-C1AA-10C2-5A59-80BE770F7FD9}"/>
              </a:ext>
            </a:extLst>
          </p:cNvPr>
          <p:cNvSpPr txBox="1"/>
          <p:nvPr/>
        </p:nvSpPr>
        <p:spPr>
          <a:xfrm>
            <a:off x="6604000" y="3888975"/>
            <a:ext cx="5523006" cy="2769989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tx2">
                  <a:lumMod val="8000"/>
                </a:schemeClr>
              </a:gs>
            </a:gsLst>
            <a:lin ang="7200000" scaled="0"/>
          </a:gradFill>
          <a:ln>
            <a:noFill/>
          </a:ln>
          <a:effectLst>
            <a:outerShdw blurRad="990600" dist="50800" dir="5400000" sx="96000" sy="96000" algn="ctr" rotWithShape="0">
              <a:srgbClr val="000000">
                <a:alpha val="43137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400" b="1" i="0" u="none" strike="noStrike" cap="none" dirty="0" err="1">
                <a:ea typeface="Public Sans"/>
                <a:cs typeface="Public Sans"/>
                <a:sym typeface="Public Sans"/>
              </a:rPr>
              <a:t>Выполнил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: </a:t>
            </a:r>
            <a:r>
              <a:rPr lang="ru-RU" sz="2400" b="0" i="0" u="none" strike="noStrike" cap="none" dirty="0" err="1" smtClean="0">
                <a:ea typeface="Public Sans"/>
                <a:cs typeface="Public Sans"/>
                <a:sym typeface="Public Sans"/>
              </a:rPr>
              <a:t>Лупиногов</a:t>
            </a:r>
            <a:r>
              <a:rPr lang="ru-RU" sz="2400" b="0" i="0" u="none" strike="noStrike" cap="none" dirty="0" smtClean="0">
                <a:ea typeface="Public Sans"/>
                <a:cs typeface="Public Sans"/>
                <a:sym typeface="Public Sans"/>
              </a:rPr>
              <a:t> Данила Андреевич</a:t>
            </a: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400" b="1" i="0" u="none" strike="noStrike" cap="none" dirty="0" err="1" smtClean="0">
                <a:ea typeface="Public Sans"/>
                <a:cs typeface="Public Sans"/>
                <a:sym typeface="Public Sans"/>
              </a:rPr>
              <a:t>Специальность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: </a:t>
            </a:r>
            <a:r>
              <a:rPr lang="en-US" sz="2400" b="0" i="0" u="none" strike="noStrike" cap="none" dirty="0" err="1">
                <a:ea typeface="Public Sans"/>
                <a:cs typeface="Public Sans"/>
                <a:sym typeface="Public Sans"/>
              </a:rPr>
              <a:t>Информационные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 </a:t>
            </a:r>
            <a:r>
              <a:rPr lang="en-US" sz="2400" b="0" i="0" u="none" strike="noStrike" cap="none" dirty="0" err="1">
                <a:ea typeface="Public Sans"/>
                <a:cs typeface="Public Sans"/>
                <a:sym typeface="Public Sans"/>
              </a:rPr>
              <a:t>системы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 и </a:t>
            </a:r>
            <a:r>
              <a:rPr lang="en-US" sz="2400" b="0" i="0" u="none" strike="noStrike" cap="none" dirty="0" err="1">
                <a:ea typeface="Public Sans"/>
                <a:cs typeface="Public Sans"/>
                <a:sym typeface="Public Sans"/>
              </a:rPr>
              <a:t>программирование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/>
            </a:r>
            <a:b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</a:br>
            <a:r>
              <a:rPr lang="en-US" sz="2400" b="1" i="0" u="none" strike="noStrike" cap="none" dirty="0" err="1">
                <a:ea typeface="Public Sans"/>
                <a:cs typeface="Public Sans"/>
                <a:sym typeface="Public Sans"/>
              </a:rPr>
              <a:t>Группа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: </a:t>
            </a:r>
            <a:r>
              <a:rPr lang="en-US" sz="2400" b="0" i="0" u="none" strike="noStrike" cap="none" dirty="0" err="1">
                <a:ea typeface="Public Sans"/>
                <a:cs typeface="Public Sans"/>
                <a:sym typeface="Public Sans"/>
              </a:rPr>
              <a:t>ИСиП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 2</a:t>
            </a:r>
            <a:r>
              <a:rPr lang="ru-RU" sz="2400" dirty="0">
                <a:ea typeface="Public Sans"/>
                <a:cs typeface="Public Sans"/>
                <a:sym typeface="Public Sans"/>
              </a:rPr>
              <a:t>2</a:t>
            </a:r>
            <a:r>
              <a:rPr lang="en-US" sz="2400" b="0" i="0" u="none" strike="noStrike" cap="none" dirty="0">
                <a:ea typeface="Public Sans"/>
                <a:cs typeface="Public Sans"/>
                <a:sym typeface="Public Sans"/>
              </a:rPr>
              <a:t>-0</a:t>
            </a:r>
            <a:r>
              <a:rPr lang="ru-RU" sz="2400" b="0" i="0" u="none" strike="noStrike" cap="none" dirty="0" smtClean="0">
                <a:ea typeface="Public Sans"/>
                <a:cs typeface="Public Sans"/>
                <a:sym typeface="Public Sans"/>
              </a:rPr>
              <a:t>1</a:t>
            </a:r>
            <a:endParaRPr lang="ru-RU" sz="2400" dirty="0" smtClean="0">
              <a:ea typeface="Public Sans"/>
              <a:cs typeface="Public Sans"/>
              <a:sym typeface="Public Sans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400" b="1" i="0" u="none" strike="noStrike" cap="none" dirty="0" err="1" smtClean="0">
                <a:ea typeface="Public Sans"/>
                <a:cs typeface="Public Sans"/>
                <a:sym typeface="Public Sans"/>
              </a:rPr>
              <a:t>Руководитель</a:t>
            </a:r>
            <a:r>
              <a:rPr lang="en-US" sz="2400" b="0" i="0" u="none" strike="noStrike" cap="none" dirty="0" smtClean="0">
                <a:ea typeface="Public Sans"/>
                <a:cs typeface="Public Sans"/>
                <a:sym typeface="Public Sans"/>
              </a:rPr>
              <a:t>:</a:t>
            </a:r>
            <a:r>
              <a:rPr lang="ru-RU" sz="2400" dirty="0" smtClean="0">
                <a:cs typeface="Times New Roman" panose="02020603050405020304" pitchFamily="18" charset="0"/>
                <a:sym typeface="+mn-ea"/>
              </a:rPr>
              <a:t> Костюченко А.А</a:t>
            </a:r>
            <a:endParaRPr sz="2400" b="0" i="0" u="none" strike="noStrike" cap="none" dirty="0"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8F3B35B5-C1AA-10C2-5A59-80BE770F7FD9}"/>
              </a:ext>
            </a:extLst>
          </p:cNvPr>
          <p:cNvSpPr txBox="1"/>
          <p:nvPr/>
        </p:nvSpPr>
        <p:spPr>
          <a:xfrm>
            <a:off x="0" y="6314398"/>
            <a:ext cx="12192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b="1" i="0" u="none" strike="noStrike" cap="none" dirty="0" smtClean="0">
                <a:latin typeface="Public Sans"/>
                <a:ea typeface="Public Sans"/>
                <a:cs typeface="Public Sans"/>
                <a:sym typeface="Public Sans"/>
              </a:rPr>
              <a:t>Красноярск, 2026г.</a:t>
            </a:r>
            <a:endParaRPr b="0" i="0" u="none" strike="noStrike" cap="none" dirty="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392898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Актуальность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30788" cy="4351338"/>
          </a:xfrm>
          <a:solidFill>
            <a:schemeClr val="accent1">
              <a:lumMod val="75000"/>
            </a:schemeClr>
          </a:solidFill>
          <a:effectLst>
            <a:glow rad="520700">
              <a:schemeClr val="accent1">
                <a:lumMod val="50000"/>
                <a:alpha val="40000"/>
              </a:schemeClr>
            </a:glow>
            <a:reflection endPos="0" dist="50800" dir="5400000" sy="-100000" algn="bl" rotWithShape="0"/>
            <a:softEdge rad="0"/>
          </a:effectLst>
        </p:spPr>
        <p:txBody>
          <a:bodyPr>
            <a:normAutofit/>
          </a:bodyPr>
          <a:lstStyle/>
          <a:p>
            <a:r>
              <a:rPr lang="ru-RU" dirty="0"/>
              <a:t>Актуальность данной дипломной работы обусловлена необходимостью разработки интернет-магазина строительных материалов с интеллектуальной системой подбора аналогов, которая позволит автоматически предлагать пользователю альтернативные товары на основе их технических и эксплуатационных характеристик.</a:t>
            </a:r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08" y="1825626"/>
            <a:ext cx="12196452" cy="4351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Объект</a:t>
            </a:r>
            <a:r>
              <a:rPr dirty="0"/>
              <a:t> </a:t>
            </a:r>
            <a:r>
              <a:rPr dirty="0" err="1" smtClean="0"/>
              <a:t>исследования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10726" cy="3925470"/>
          </a:xfrm>
          <a:solidFill>
            <a:schemeClr val="accent1">
              <a:lumMod val="75000"/>
            </a:schemeClr>
          </a:solidFill>
          <a:effectLst>
            <a:outerShdw blurRad="876300" dist="50800" dir="5400000" sx="106000" sy="106000" algn="ctr" rotWithShape="0">
              <a:srgbClr val="000000">
                <a:alpha val="43137"/>
              </a:srgbClr>
            </a:outerShdw>
          </a:effectLst>
        </p:spPr>
        <p:txBody>
          <a:bodyPr/>
          <a:lstStyle/>
          <a:p>
            <a:r>
              <a:rPr lang="ru-RU" dirty="0"/>
              <a:t>Объектом </a:t>
            </a:r>
            <a:r>
              <a:rPr lang="ru-RU" dirty="0" smtClean="0"/>
              <a:t>исследования является </a:t>
            </a:r>
            <a:r>
              <a:rPr lang="ru-RU" dirty="0"/>
              <a:t>процесс функционирования интернет-магазина строительных материалов как информационной системы, обеспечивающей продажу товаров, хранение и обработку данных о товарах, а также взаимодействие с пользователями в онлайн-среде.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419" y="1825626"/>
            <a:ext cx="8556668" cy="3925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dirty="0" err="1" smtClean="0"/>
              <a:t>редмет</a:t>
            </a:r>
            <a:r>
              <a:rPr dirty="0" smtClean="0"/>
              <a:t> </a:t>
            </a:r>
            <a:r>
              <a:rPr dirty="0" err="1" smtClean="0"/>
              <a:t>исследования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10726" cy="3949533"/>
          </a:xfrm>
          <a:solidFill>
            <a:schemeClr val="accent1">
              <a:lumMod val="75000"/>
            </a:schemeClr>
          </a:solidFill>
          <a:effectLst>
            <a:outerShdw blurRad="876300" dist="50800" dir="5400000" sx="106000" sy="106000" algn="ctr" rotWithShape="0">
              <a:srgbClr val="000000">
                <a:alpha val="43137"/>
              </a:srgbClr>
            </a:outerShdw>
          </a:effectLst>
        </p:spPr>
        <p:txBody>
          <a:bodyPr/>
          <a:lstStyle/>
          <a:p>
            <a:r>
              <a:rPr lang="ru-RU" dirty="0"/>
              <a:t>Предметом исследования являются методы, модели и программные средства разработки веб-приложений для электронной коммерции, а также алгоритмы подбора аналогичных строительных материалов на основе их технических и эксплуатационных характеристик.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04" y="1825624"/>
            <a:ext cx="8609120" cy="39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7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Цель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6934200" cy="4397291"/>
          </a:xfrm>
          <a:solidFill>
            <a:schemeClr val="accent1">
              <a:lumMod val="75000"/>
            </a:schemeClr>
          </a:solidFill>
          <a:effectLst>
            <a:outerShdw blurRad="1270000" dist="50800" dir="5400000" sx="101000" sy="101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r>
              <a:rPr lang="ru-RU" dirty="0"/>
              <a:t>Целью дипломной работы является разработка и реализация интернет-магазина строительных материалов с системой подбора аналогов, обеспечивающей автоматический выбор альтернативных товаров на основе их технических и эксплуатационных характеристик, а также повышение удобства использования веб-приложения и эффективности процесса онлайн-продаж.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877" y="1690688"/>
            <a:ext cx="6281846" cy="43972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</a:t>
            </a:r>
            <a:r>
              <a:rPr dirty="0" err="1" smtClean="0"/>
              <a:t>адачи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10515599" cy="4950744"/>
          </a:xfrm>
          <a:solidFill>
            <a:schemeClr val="accent1">
              <a:lumMod val="75000"/>
            </a:schemeClr>
          </a:solidFill>
          <a:effectLst>
            <a:outerShdw blurRad="1270000" dist="50800" dir="5400000" sx="101000" sy="101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предметную </a:t>
            </a:r>
            <a:r>
              <a:rPr lang="ru-RU" dirty="0" smtClean="0"/>
              <a:t>область.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Изучить </a:t>
            </a:r>
            <a:r>
              <a:rPr lang="ru-RU" dirty="0"/>
              <a:t>существующие интернет-магазины и методы подбора аналогичных </a:t>
            </a:r>
            <a:r>
              <a:rPr lang="ru-RU" dirty="0" smtClean="0"/>
              <a:t>товаров.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Сформировать </a:t>
            </a:r>
            <a:r>
              <a:rPr lang="ru-RU" dirty="0"/>
              <a:t>функциональные и технические требования к </a:t>
            </a:r>
            <a:r>
              <a:rPr lang="ru-RU" dirty="0" smtClean="0"/>
              <a:t>интернет-магазину.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Спроектировать </a:t>
            </a:r>
            <a:r>
              <a:rPr lang="ru-RU" dirty="0"/>
              <a:t>архитектуру веб-приложения и структуру базы </a:t>
            </a:r>
            <a:r>
              <a:rPr lang="ru-RU" dirty="0" smtClean="0"/>
              <a:t>данных.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Разработать </a:t>
            </a:r>
            <a:r>
              <a:rPr lang="ru-RU" dirty="0"/>
              <a:t>интернет-магазин строительных материалов с использованием языка программирования </a:t>
            </a:r>
            <a:r>
              <a:rPr lang="ru-RU" dirty="0" err="1" smtClean="0"/>
              <a:t>Python</a:t>
            </a:r>
            <a:r>
              <a:rPr lang="ru-RU" dirty="0" smtClean="0"/>
              <a:t>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Провести </a:t>
            </a:r>
            <a:r>
              <a:rPr lang="ru-RU" dirty="0"/>
              <a:t>тестирование и оценить эффективность разработанного интернет-магазина.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26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271"/>
            <a:ext cx="10515600" cy="1325563"/>
          </a:xfrm>
        </p:spPr>
        <p:txBody>
          <a:bodyPr/>
          <a:lstStyle/>
          <a:p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дипломной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4046"/>
            <a:ext cx="10515600" cy="5633954"/>
          </a:xfrm>
          <a:solidFill>
            <a:schemeClr val="accent1">
              <a:lumMod val="75000"/>
            </a:schemeClr>
          </a:solidFill>
          <a:effectLst>
            <a:outerShdw blurRad="889000" dist="50800" dir="5400000" sx="78000" sy="78000" algn="ctr" rotWithShape="0">
              <a:srgbClr val="000000">
                <a:alpha val="43137"/>
              </a:srgb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 smtClean="0"/>
              <a:t>ВВЕДЕНИЕ</a:t>
            </a:r>
            <a:r>
              <a:rPr lang="ru-RU" sz="2000" b="1" dirty="0"/>
              <a:t/>
            </a:r>
            <a:br>
              <a:rPr lang="ru-RU" sz="2000" b="1" dirty="0"/>
            </a:br>
            <a:r>
              <a:rPr lang="ru-RU" sz="2000" b="1" dirty="0"/>
              <a:t>Глава 1. Анализ предметной области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1.1. Общая характеристика интернет-магазинов строительных материалов</a:t>
            </a:r>
            <a:br>
              <a:rPr lang="ru-RU" sz="2000" dirty="0"/>
            </a:br>
            <a:r>
              <a:rPr lang="ru-RU" sz="2000" dirty="0"/>
              <a:t>1.2. Анализ существующих интернет-магазинов и аналогичных решений</a:t>
            </a:r>
            <a:br>
              <a:rPr lang="ru-RU" sz="2000" dirty="0"/>
            </a:br>
            <a:r>
              <a:rPr lang="ru-RU" sz="2000" dirty="0"/>
              <a:t>1.3. Методы подбора аналогичных товаров</a:t>
            </a:r>
            <a:br>
              <a:rPr lang="ru-RU" sz="2000" dirty="0"/>
            </a:br>
            <a:r>
              <a:rPr lang="ru-RU" sz="2000" dirty="0"/>
              <a:t>1.4. Формирование требований к </a:t>
            </a:r>
            <a:r>
              <a:rPr lang="ru-RU" sz="2000" dirty="0" smtClean="0"/>
              <a:t>интернет-магазину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/>
              <a:t>Глава 2. Проектирование интернет-магазина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2.1. Выбор технологий и инструментов разработки</a:t>
            </a:r>
            <a:br>
              <a:rPr lang="ru-RU" sz="2000" dirty="0"/>
            </a:br>
            <a:r>
              <a:rPr lang="ru-RU" sz="2000" dirty="0"/>
              <a:t>2.2. Проектирование архитектуры веб-приложения</a:t>
            </a:r>
            <a:br>
              <a:rPr lang="ru-RU" sz="2000" dirty="0"/>
            </a:br>
            <a:r>
              <a:rPr lang="ru-RU" sz="2000" dirty="0"/>
              <a:t>2.3. Проектирование структуры базы данных</a:t>
            </a:r>
            <a:br>
              <a:rPr lang="ru-RU" sz="2000" dirty="0"/>
            </a:br>
            <a:r>
              <a:rPr lang="ru-RU" sz="2000" dirty="0"/>
              <a:t>2.4. Проектирование пользовательского интерфейса</a:t>
            </a:r>
            <a:br>
              <a:rPr lang="ru-RU" sz="2000" dirty="0"/>
            </a:br>
            <a:r>
              <a:rPr lang="ru-RU" sz="2000" dirty="0"/>
              <a:t>2.5. Разработка алгоритма подбора аналогов </a:t>
            </a:r>
            <a:r>
              <a:rPr lang="ru-RU" sz="2000" dirty="0" smtClean="0"/>
              <a:t>товаров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/>
              <a:t>Глава 3. Реализация и тестирование системы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3.1. Реализация интернет-магазина на языке </a:t>
            </a:r>
            <a:r>
              <a:rPr lang="ru-RU" sz="2000" dirty="0" err="1"/>
              <a:t>Python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3.2. Реализация основных функциональных модулей</a:t>
            </a:r>
            <a:br>
              <a:rPr lang="ru-RU" sz="2000" dirty="0"/>
            </a:br>
            <a:r>
              <a:rPr lang="ru-RU" sz="2000" dirty="0"/>
              <a:t>3.3. Реализация системы подбора аналогов</a:t>
            </a:r>
            <a:br>
              <a:rPr lang="ru-RU" sz="2000" dirty="0"/>
            </a:br>
            <a:r>
              <a:rPr lang="ru-RU" sz="2000" dirty="0"/>
              <a:t>3.4. Тестирование и анализ результатов работы </a:t>
            </a:r>
            <a:r>
              <a:rPr lang="ru-RU" sz="2000" dirty="0" smtClean="0"/>
              <a:t>системы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>
                <a:cs typeface="Times New Roman" panose="02020603050405020304" pitchFamily="18" charset="0"/>
              </a:rPr>
              <a:t>ЗАКЛЮЧЕНИЕ</a:t>
            </a:r>
            <a:br>
              <a:rPr lang="ru-RU" sz="2000" b="1" dirty="0" smtClean="0">
                <a:cs typeface="Times New Roman" panose="02020603050405020304" pitchFamily="18" charset="0"/>
              </a:rPr>
            </a:br>
            <a:r>
              <a:rPr lang="ru-RU" sz="2000" b="1" dirty="0" smtClean="0">
                <a:cs typeface="Times New Roman" panose="02020603050405020304" pitchFamily="18" charset="0"/>
              </a:rPr>
              <a:t>СПИСОК </a:t>
            </a:r>
            <a:r>
              <a:rPr lang="ru-RU" sz="2000" b="1" dirty="0">
                <a:cs typeface="Times New Roman" panose="02020603050405020304" pitchFamily="18" charset="0"/>
              </a:rPr>
              <a:t>ИСПОЛЬЗОВАННЫХ </a:t>
            </a:r>
            <a:r>
              <a:rPr lang="ru-RU" sz="2000" b="1" dirty="0" smtClean="0">
                <a:cs typeface="Times New Roman" panose="02020603050405020304" pitchFamily="18" charset="0"/>
              </a:rPr>
              <a:t>ИСТОЧНИКОВ</a:t>
            </a:r>
            <a:br>
              <a:rPr lang="ru-RU" sz="2000" b="1" dirty="0" smtClean="0">
                <a:cs typeface="Times New Roman" panose="02020603050405020304" pitchFamily="18" charset="0"/>
              </a:rPr>
            </a:br>
            <a:r>
              <a:rPr lang="ru-RU" sz="2000" b="1" dirty="0" smtClean="0">
                <a:cs typeface="Times New Roman" panose="02020603050405020304" pitchFamily="18" charset="0"/>
              </a:rPr>
              <a:t>ПРИЛОЖЕНИЕ </a:t>
            </a:r>
            <a:r>
              <a:rPr lang="ru-RU" sz="2000" b="1" dirty="0">
                <a:cs typeface="Times New Roman" panose="02020603050405020304" pitchFamily="18" charset="0"/>
              </a:rPr>
              <a:t>А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Форма</a:t>
            </a:r>
            <a:r>
              <a:rPr lang="en-US" dirty="0"/>
              <a:t> </a:t>
            </a:r>
            <a:r>
              <a:rPr lang="en-US" dirty="0" err="1"/>
              <a:t>регистрации</a:t>
            </a:r>
            <a:r>
              <a:rPr lang="en-US" dirty="0"/>
              <a:t> </a:t>
            </a:r>
            <a:r>
              <a:rPr lang="ru-RU" dirty="0" smtClean="0"/>
              <a:t>и авторизации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48" y="1019066"/>
            <a:ext cx="4258269" cy="557290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765" y="1094782"/>
            <a:ext cx="5241554" cy="5421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страница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02" y="886265"/>
            <a:ext cx="11541916" cy="55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4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страница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20" y="763308"/>
            <a:ext cx="11421501" cy="55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8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Страница выбора товара «Каталог»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5" y="823012"/>
            <a:ext cx="10850489" cy="57253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831" y="712726"/>
            <a:ext cx="8688336" cy="59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5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Работа с поиском в каталоге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98" y="889935"/>
            <a:ext cx="11588554" cy="569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8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Выбор категории в каталоге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966061"/>
            <a:ext cx="7430537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0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Система подбора аналогов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764418"/>
            <a:ext cx="11144769" cy="54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6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Страница оформления заказа «Корзина»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2" y="2223108"/>
            <a:ext cx="11549966" cy="25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1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Страница оформления заказа «Корзина»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6168"/>
            <a:ext cx="10710070" cy="432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2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Оформление заявки в корзине</a:t>
            </a:r>
            <a:endParaRPr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797173"/>
            <a:ext cx="850701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4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Окно с ошибкой 404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17" y="919882"/>
            <a:ext cx="11628377" cy="5428937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23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8547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базы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r>
              <a:rPr lang="en-US" dirty="0"/>
              <a:t> </a:t>
            </a:r>
            <a:endParaRPr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19" y="676821"/>
            <a:ext cx="6339961" cy="6181179"/>
          </a:xfrm>
        </p:spPr>
      </p:pic>
    </p:spTree>
    <p:extLst>
      <p:ext uri="{BB962C8B-B14F-4D97-AF65-F5344CB8AC3E}">
        <p14:creationId xmlns:p14="http://schemas.microsoft.com/office/powerpoint/2010/main" val="96692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351"/>
            <a:ext cx="10515600" cy="1325563"/>
          </a:xfrm>
        </p:spPr>
        <p:txBody>
          <a:bodyPr/>
          <a:lstStyle/>
          <a:p>
            <a:r>
              <a:rPr dirty="0" err="1"/>
              <a:t>Источники</a:t>
            </a:r>
            <a:r>
              <a:rPr dirty="0"/>
              <a:t> </a:t>
            </a:r>
            <a:r>
              <a:rPr dirty="0" err="1" smtClean="0"/>
              <a:t>информации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80" y="991435"/>
            <a:ext cx="12047620" cy="4351338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Django Software Foundation. Django </a:t>
            </a:r>
            <a:r>
              <a:rPr lang="en-US" sz="1800" dirty="0"/>
              <a:t>Documentation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docs.djangoproject.com/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Pallets Projects. Flask </a:t>
            </a:r>
            <a:r>
              <a:rPr lang="en-US" sz="1800" dirty="0"/>
              <a:t>Documentation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flask.palletsprojects.com/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Oracle Corporation. MySQL </a:t>
            </a:r>
            <a:r>
              <a:rPr lang="en-US" sz="1800" dirty="0"/>
              <a:t>Documentation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dev.mysql.com/doc/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Mozilla. MDN </a:t>
            </a:r>
            <a:r>
              <a:rPr lang="en-US" sz="1800" dirty="0"/>
              <a:t>Web Docs: HTML, CSS, JavaScript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developer.mozilla.org/ru/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 smtClean="0"/>
              <a:t>OpenCart</a:t>
            </a:r>
            <a:r>
              <a:rPr lang="en-US" sz="1800" dirty="0" smtClean="0"/>
              <a:t> Limited. </a:t>
            </a:r>
            <a:r>
              <a:rPr lang="en-US" sz="1800" dirty="0" err="1" smtClean="0"/>
              <a:t>OpenCart</a:t>
            </a:r>
            <a:r>
              <a:rPr lang="en-US" sz="1800" dirty="0" smtClean="0"/>
              <a:t> </a:t>
            </a:r>
            <a:r>
              <a:rPr lang="en-US" sz="1800" dirty="0"/>
              <a:t>Documentation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docs.opencart.com/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 smtClean="0"/>
              <a:t>WooCommerce</a:t>
            </a:r>
            <a:r>
              <a:rPr lang="en-US" sz="1800" dirty="0" smtClean="0"/>
              <a:t>. </a:t>
            </a:r>
            <a:r>
              <a:rPr lang="en-US" sz="1800" dirty="0" err="1" smtClean="0"/>
              <a:t>WooCommerce</a:t>
            </a:r>
            <a:r>
              <a:rPr lang="en-US" sz="1800" dirty="0" smtClean="0"/>
              <a:t> </a:t>
            </a:r>
            <a:r>
              <a:rPr lang="en-US" sz="1800" dirty="0"/>
              <a:t>Documentation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woocommerce.com/documentation/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Amazon </a:t>
            </a:r>
            <a:r>
              <a:rPr lang="en-US" sz="1800" dirty="0"/>
              <a:t>Web </a:t>
            </a:r>
            <a:r>
              <a:rPr lang="en-US" sz="1800" dirty="0" smtClean="0"/>
              <a:t>Services. Recommendation </a:t>
            </a:r>
            <a:r>
              <a:rPr lang="en-US" sz="1800" dirty="0"/>
              <a:t>Systems Overview [</a:t>
            </a:r>
            <a:r>
              <a:rPr lang="ru-RU" sz="1800" dirty="0"/>
              <a:t>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aws.amazon.com/ru/personalize/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 smtClean="0"/>
              <a:t>Habr</a:t>
            </a:r>
            <a:r>
              <a:rPr lang="en-US" sz="1800" dirty="0" smtClean="0"/>
              <a:t>. </a:t>
            </a:r>
            <a:r>
              <a:rPr lang="ru-RU" sz="1800" dirty="0" smtClean="0"/>
              <a:t>Разработка </a:t>
            </a:r>
            <a:r>
              <a:rPr lang="ru-RU" sz="1800" dirty="0"/>
              <a:t>интернет-магазинов и веб-приложений [Электронный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https</a:t>
            </a:r>
            <a:r>
              <a:rPr lang="en-US" sz="1800" dirty="0"/>
              <a:t>://</a:t>
            </a:r>
            <a:r>
              <a:rPr lang="en-US" sz="1800" dirty="0" smtClean="0"/>
              <a:t>habr.com/ru/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 smtClean="0"/>
              <a:t>Cleverence</a:t>
            </a:r>
            <a:r>
              <a:rPr lang="en-US" sz="1800" dirty="0" smtClean="0"/>
              <a:t>. </a:t>
            </a:r>
            <a:r>
              <a:rPr lang="ru-RU" sz="1800" dirty="0" smtClean="0"/>
              <a:t>Автоматизация </a:t>
            </a:r>
            <a:r>
              <a:rPr lang="ru-RU" sz="1800" dirty="0"/>
              <a:t>торговли и товарного учёта [Электронный ресурс]. — Режим </a:t>
            </a:r>
            <a:r>
              <a:rPr lang="ru-RU" sz="1800" dirty="0" smtClean="0"/>
              <a:t>доступа:</a:t>
            </a:r>
            <a:r>
              <a:rPr lang="en-US" sz="1800" dirty="0" smtClean="0"/>
              <a:t> </a:t>
            </a:r>
            <a:r>
              <a:rPr lang="en-US" sz="1800" dirty="0" smtClean="0">
                <a:hlinkClick r:id="rId2"/>
              </a:rPr>
              <a:t>https</a:t>
            </a:r>
            <a:r>
              <a:rPr lang="en-US" sz="1800" dirty="0">
                <a:hlinkClick r:id="rId2"/>
              </a:rPr>
              <a:t>://</a:t>
            </a:r>
            <a:r>
              <a:rPr lang="en-US" sz="1800" dirty="0" smtClean="0">
                <a:hlinkClick r:id="rId2"/>
              </a:rPr>
              <a:t>www.cleverence.ru/</a:t>
            </a:r>
            <a:endParaRPr lang="ru-RU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err="1" smtClean="0"/>
              <a:t>PyCharm</a:t>
            </a:r>
            <a:r>
              <a:rPr lang="en-US" sz="1800" dirty="0"/>
              <a:t>: The only Python IDE you </a:t>
            </a:r>
            <a:r>
              <a:rPr lang="en-US" sz="1800" dirty="0" smtClean="0"/>
              <a:t>need</a:t>
            </a:r>
            <a:r>
              <a:rPr lang="ru-RU" sz="1800" dirty="0" smtClean="0"/>
              <a:t> </a:t>
            </a:r>
            <a:r>
              <a:rPr lang="ru-RU" sz="1800" dirty="0"/>
              <a:t>учёта [Электронный ресурс]. — Режим доступа:</a:t>
            </a:r>
            <a:r>
              <a:rPr lang="en-US" sz="1800" dirty="0"/>
              <a:t> </a:t>
            </a:r>
            <a:r>
              <a:rPr lang="en-US" sz="1800" dirty="0" err="1">
                <a:hlinkClick r:id="rId3"/>
              </a:rPr>
              <a:t>jetbrains.com›pycharm</a:t>
            </a:r>
            <a:r>
              <a:rPr lang="en-US" sz="1800" dirty="0">
                <a:hlinkClick r:id="rId3"/>
              </a:rPr>
              <a:t>/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</TotalTime>
  <Words>468</Words>
  <Application>Microsoft Office PowerPoint</Application>
  <PresentationFormat>Широкоэкранный</PresentationFormat>
  <Paragraphs>48</Paragraphs>
  <Slides>20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Public Sans</vt:lpstr>
      <vt:lpstr>Times New Roman</vt:lpstr>
      <vt:lpstr>Office Theme</vt:lpstr>
      <vt:lpstr>Создание интернет-магазина строительных материалов с системой подбора аналогов.</vt:lpstr>
      <vt:lpstr>Актуальность работы</vt:lpstr>
      <vt:lpstr>Объект исследования</vt:lpstr>
      <vt:lpstr>Предмет исследования</vt:lpstr>
      <vt:lpstr>Цель</vt:lpstr>
      <vt:lpstr>Задачи</vt:lpstr>
      <vt:lpstr>Структура дипломной работы</vt:lpstr>
      <vt:lpstr>Форма регистрации и авторизации</vt:lpstr>
      <vt:lpstr>Главная страница </vt:lpstr>
      <vt:lpstr>Главная страница </vt:lpstr>
      <vt:lpstr>Страница выбора товара «Каталог»</vt:lpstr>
      <vt:lpstr>Работа с поиском в каталоге</vt:lpstr>
      <vt:lpstr>Выбор категории в каталоге</vt:lpstr>
      <vt:lpstr>Система подбора аналогов</vt:lpstr>
      <vt:lpstr>Страница оформления заказа «Корзина»</vt:lpstr>
      <vt:lpstr>Страница оформления заказа «Корзина»</vt:lpstr>
      <vt:lpstr>Оформление заявки в корзине</vt:lpstr>
      <vt:lpstr>Окно с ошибкой 404</vt:lpstr>
      <vt:lpstr>Схема структуры базы данных проекта </vt:lpstr>
      <vt:lpstr>Источники информации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Dan Balvan</cp:lastModifiedBy>
  <cp:revision>17</cp:revision>
  <dcterms:created xsi:type="dcterms:W3CDTF">2013-01-27T09:14:16Z</dcterms:created>
  <dcterms:modified xsi:type="dcterms:W3CDTF">2026-03-16T05:09:22Z</dcterms:modified>
  <cp:category/>
</cp:coreProperties>
</file>